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Pallota (AOOP CLOUD)" userId="41edab4a-53c8-4a65-80f2-50b7130ad76d" providerId="ADAL" clId="{28FB2B54-D10C-4EDA-B407-91CE33D573F3}"/>
    <pc:docChg chg="custSel modSld">
      <pc:chgData name="Bruno Pallota (AOOP CLOUD)" userId="41edab4a-53c8-4a65-80f2-50b7130ad76d" providerId="ADAL" clId="{28FB2B54-D10C-4EDA-B407-91CE33D573F3}" dt="2026-09-04T16:40:14.115" v="28" actId="478"/>
      <pc:docMkLst>
        <pc:docMk/>
      </pc:docMkLst>
      <pc:sldChg chg="mod modShow">
        <pc:chgData name="Bruno Pallota (AOOP CLOUD)" userId="41edab4a-53c8-4a65-80f2-50b7130ad76d" providerId="ADAL" clId="{28FB2B54-D10C-4EDA-B407-91CE33D573F3}" dt="2026-09-04T14:47:56.728" v="0" actId="729"/>
        <pc:sldMkLst>
          <pc:docMk/>
          <pc:sldMk cId="0" sldId="257"/>
        </pc:sldMkLst>
      </pc:sldChg>
      <pc:sldChg chg="mod modShow">
        <pc:chgData name="Bruno Pallota (AOOP CLOUD)" userId="41edab4a-53c8-4a65-80f2-50b7130ad76d" providerId="ADAL" clId="{28FB2B54-D10C-4EDA-B407-91CE33D573F3}" dt="2026-09-04T14:48:12.438" v="1" actId="729"/>
        <pc:sldMkLst>
          <pc:docMk/>
          <pc:sldMk cId="0" sldId="258"/>
        </pc:sldMkLst>
      </pc:sldChg>
      <pc:sldChg chg="mod modShow">
        <pc:chgData name="Bruno Pallota (AOOP CLOUD)" userId="41edab4a-53c8-4a65-80f2-50b7130ad76d" providerId="ADAL" clId="{28FB2B54-D10C-4EDA-B407-91CE33D573F3}" dt="2026-09-04T14:48:14.229" v="2" actId="729"/>
        <pc:sldMkLst>
          <pc:docMk/>
          <pc:sldMk cId="0" sldId="259"/>
        </pc:sldMkLst>
      </pc:sldChg>
      <pc:sldChg chg="modSp mod">
        <pc:chgData name="Bruno Pallota (AOOP CLOUD)" userId="41edab4a-53c8-4a65-80f2-50b7130ad76d" providerId="ADAL" clId="{28FB2B54-D10C-4EDA-B407-91CE33D573F3}" dt="2026-09-04T14:48:38.769" v="25" actId="20577"/>
        <pc:sldMkLst>
          <pc:docMk/>
          <pc:sldMk cId="0" sldId="260"/>
        </pc:sldMkLst>
        <pc:spChg chg="mod">
          <ac:chgData name="Bruno Pallota (AOOP CLOUD)" userId="41edab4a-53c8-4a65-80f2-50b7130ad76d" providerId="ADAL" clId="{28FB2B54-D10C-4EDA-B407-91CE33D573F3}" dt="2026-09-04T14:48:38.769" v="25" actId="20577"/>
          <ac:spMkLst>
            <pc:docMk/>
            <pc:sldMk cId="0" sldId="260"/>
            <ac:spMk id="31" creationId="{00000000-0000-0000-0000-000000000000}"/>
          </ac:spMkLst>
        </pc:spChg>
      </pc:sldChg>
      <pc:sldChg chg="mod modShow">
        <pc:chgData name="Bruno Pallota (AOOP CLOUD)" userId="41edab4a-53c8-4a65-80f2-50b7130ad76d" providerId="ADAL" clId="{28FB2B54-D10C-4EDA-B407-91CE33D573F3}" dt="2026-09-04T16:39:38.075" v="26" actId="729"/>
        <pc:sldMkLst>
          <pc:docMk/>
          <pc:sldMk cId="0" sldId="263"/>
        </pc:sldMkLst>
      </pc:sldChg>
      <pc:sldChg chg="delSp modSp mod">
        <pc:chgData name="Bruno Pallota (AOOP CLOUD)" userId="41edab4a-53c8-4a65-80f2-50b7130ad76d" providerId="ADAL" clId="{28FB2B54-D10C-4EDA-B407-91CE33D573F3}" dt="2026-09-04T16:40:14.115" v="28" actId="478"/>
        <pc:sldMkLst>
          <pc:docMk/>
          <pc:sldMk cId="0" sldId="267"/>
        </pc:sldMkLst>
        <pc:spChg chg="del mod">
          <ac:chgData name="Bruno Pallota (AOOP CLOUD)" userId="41edab4a-53c8-4a65-80f2-50b7130ad76d" providerId="ADAL" clId="{28FB2B54-D10C-4EDA-B407-91CE33D573F3}" dt="2026-09-04T16:40:14.115" v="28" actId="478"/>
          <ac:spMkLst>
            <pc:docMk/>
            <pc:sldMk cId="0" sldId="267"/>
            <ac:spMk id="2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horizon-automation-su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594360"/>
            <a:ext cx="8915400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94760" y="3913632"/>
            <a:ext cx="4617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9417"/>
                </a:solidFill>
                <a:latin typeface="Aptos"/>
              </a:rPr>
              <a:t>INVESTMENT CASE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07408"/>
            <a:ext cx="8549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F6F7FB"/>
                </a:solidFill>
                <a:latin typeface="Aptos"/>
              </a:rPr>
              <a:t>Building the enterprise automation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5257800"/>
            <a:ext cx="8092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A6ACBA"/>
                </a:solidFill>
                <a:latin typeface="Aptos"/>
              </a:rPr>
              <a:t>Arquitetura proposta pela área de People, com execução e gestão integradas ao projeto Horizon 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6245352"/>
            <a:ext cx="5349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A6ACBA"/>
                </a:solidFill>
                <a:latin typeface="Aptos"/>
              </a:rPr>
              <a:t>PEOPLE ARCHITECTURE  ·  HORIZON CORE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417"/>
                </a:solidFill>
                <a:latin typeface="Aptos"/>
              </a:rPr>
              <a:t>EXECUTIVE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132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6F7FB"/>
                </a:solidFill>
                <a:latin typeface="Aptos"/>
              </a:rPr>
              <a:t>A decisão que buscamos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920240"/>
            <a:ext cx="10972800" cy="1874519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00" b="1">
                <a:solidFill>
                  <a:srgbClr val="F6F7FB"/>
                </a:solidFill>
                <a:latin typeface="Aptos"/>
              </a:rPr>
              <a:t>Aprovar o incremento de capacity no Horizon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71800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A6ACBA"/>
                </a:solidFill>
                <a:latin typeface="Aptos"/>
              </a:rPr>
              <a:t>O cenário recomendado viabiliza a migração da arquitetura definida por People com execução e gestão pelo projeto Horizon 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160520"/>
            <a:ext cx="2578608" cy="1325880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297680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553712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R$ [investimento anual]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138928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Fonte: Finance / Workforce Planning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160520"/>
            <a:ext cx="2578608" cy="1325880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4297680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4553712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[nº] posições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5138928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Fonte: proposta de estrutura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160520"/>
            <a:ext cx="2578608" cy="1325880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4297680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553712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R$ [benefício anual]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5138928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Fonte: pipeline + business cases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160520"/>
            <a:ext cx="2578608" cy="1325880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25712" y="4297680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4553712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[x] meses de payback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5138928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Fonte: modelo financeiro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417"/>
                </a:solidFill>
                <a:latin typeface="Aptos"/>
              </a:rPr>
              <a:t>OWNERSHIP &amp;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132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6F7FB"/>
                </a:solidFill>
                <a:latin typeface="Aptos"/>
              </a:rPr>
              <a:t>Uma arquitetura de People, entregue pelo Horizon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426464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6ACBA"/>
                </a:solidFill>
                <a:latin typeface="Aptos"/>
              </a:rPr>
              <a:t>Papéis claros preservam o ownership funcional e técnico da solução e concentram a execução na governança já estabelecida do projeto.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03120"/>
            <a:ext cx="3456432" cy="324612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103120"/>
            <a:ext cx="54864" cy="3246120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304288"/>
            <a:ext cx="3044951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FFD400"/>
                </a:solidFill>
                <a:latin typeface="Aptos"/>
              </a:rPr>
              <a:t>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15184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Arquitetura e direcionamento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18104"/>
            <a:ext cx="2999232" cy="2075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A área de People é responsável pela proposta de arquitetura, pelos requisitos de negócio, pelos princípios da solução e pela validação funcional.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103120"/>
            <a:ext cx="3456432" cy="324612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0832" y="2103120"/>
            <a:ext cx="54864" cy="3246120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9432" y="2304288"/>
            <a:ext cx="3044951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78FEE"/>
                </a:solidFill>
                <a:latin typeface="Aptos"/>
              </a:rPr>
              <a:t>HORIZON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615184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Execução e gestão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118104"/>
            <a:ext cx="2999232" cy="2075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O Horizon Core planeja e executa a migração, coordena recursos, prazos, riscos, dependências e reporta a evolução do projeto.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103120"/>
            <a:ext cx="3456432" cy="324612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2103120"/>
            <a:ext cx="54864" cy="3246120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2304288"/>
            <a:ext cx="3044951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9B6CFF"/>
                </a:solidFill>
                <a:latin typeface="Aptos"/>
              </a:rPr>
              <a:t>GOVERNANÇA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15184"/>
            <a:ext cx="29992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Decisões compartilhadas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118104"/>
            <a:ext cx="2999232" cy="2075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People mantém o ownership da arquitetura; Horizon Core assegura a entrega. Marcos e critérios de aceite são governados conjuntamente.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417"/>
                </a:solidFill>
                <a:latin typeface="Aptos"/>
              </a:rPr>
              <a:t>BUSINESS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132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6F7FB"/>
                </a:solidFill>
                <a:latin typeface="Aptos"/>
              </a:rPr>
              <a:t>O tamanho da oportunidade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426464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6ACBA"/>
                </a:solidFill>
                <a:latin typeface="Aptos"/>
              </a:rPr>
              <a:t>Este slide deve mostrar a dimensão atual da demanda e o custo de continuar operando sem uma capability dedicada.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11680"/>
            <a:ext cx="2587752" cy="1353312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148840"/>
            <a:ext cx="22585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04872"/>
            <a:ext cx="2258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[nº] oportunidades no backlog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017520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Fonte: intake, demandas SAZ e Horizon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011680"/>
            <a:ext cx="2587752" cy="1353312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148840"/>
            <a:ext cx="22585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04872"/>
            <a:ext cx="2258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[nº] horas manuais / 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17520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Fonte: volumetria × esforço por transação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011680"/>
            <a:ext cx="2587752" cy="1353312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2148840"/>
            <a:ext cx="22585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404872"/>
            <a:ext cx="2258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[nº] áreas demandantes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017520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Fonte: stakeholders e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2011680"/>
            <a:ext cx="2587752" cy="1353312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62288" y="2148840"/>
            <a:ext cx="22585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404872"/>
            <a:ext cx="22585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R$ [custo da ineficiência]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3017520"/>
            <a:ext cx="2258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Fonte: horas × custo médio carregado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730752"/>
            <a:ext cx="5340096" cy="1572768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" y="3730752"/>
            <a:ext cx="54864" cy="1572768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3986784"/>
            <a:ext cx="48828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O risco da fragmentação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489704"/>
            <a:ext cx="4882896" cy="658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Automações isoladas, baixa reutilização, conhecimento concentrado, governança inconsistente e aumento do custo de sustentação.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5352" y="3730752"/>
            <a:ext cx="5340096" cy="1572768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45352" y="3730752"/>
            <a:ext cx="54864" cy="1572768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3986784"/>
            <a:ext cx="48828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A oportunidade de plataforma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489704"/>
            <a:ext cx="4882896" cy="658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Componentes reutilizáveis, arquitetura comum, priorização por valor e uma única visão de demanda, entrega e benefício.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417"/>
                </a:solidFill>
                <a:latin typeface="Aptos"/>
              </a:rPr>
              <a:t>PRODUCT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132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6F7FB"/>
                </a:solidFill>
                <a:latin typeface="Aptos"/>
              </a:rPr>
              <a:t>Uma plataforma. Quatro capabilities.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426464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6ACBA"/>
                </a:solidFill>
                <a:latin typeface="Aptos"/>
              </a:rPr>
              <a:t>Cada produto resolve um desafio específico; juntos, entregam automação de ponta a ponta.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057400"/>
            <a:ext cx="2670048" cy="347472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horizon-bridge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58568"/>
            <a:ext cx="1234440" cy="1234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5216" y="3575304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78FEE"/>
                </a:solidFill>
                <a:latin typeface="Aptos"/>
              </a:rPr>
              <a:t>HORIZON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31920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6F7FB"/>
                </a:solidFill>
                <a:latin typeface="Aptos"/>
              </a:rPr>
              <a:t>Conecta e moderniza.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25696"/>
            <a:ext cx="215798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A6ACBA"/>
                </a:solidFill>
                <a:latin typeface="Aptos"/>
              </a:rPr>
              <a:t>Migra catálogos e Flows entre instâncias e transforma Workflows legados.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82696" y="2057400"/>
            <a:ext cx="2670048" cy="347472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horizon-flow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2258568"/>
            <a:ext cx="1234440" cy="1234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83864" y="3575304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16B4FF"/>
                </a:solidFill>
                <a:latin typeface="Aptos"/>
              </a:rPr>
              <a:t>HORIZON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3931920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6F7FB"/>
                </a:solidFill>
                <a:latin typeface="Aptos"/>
              </a:rPr>
              <a:t>Automatiza.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4425696"/>
            <a:ext cx="215798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A6ACBA"/>
                </a:solidFill>
                <a:latin typeface="Aptos"/>
              </a:rPr>
              <a:t>Orquestra processos e regras nativas dentro do ServiceNow.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2057400"/>
            <a:ext cx="2670048" cy="347472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horizon-relay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2258568"/>
            <a:ext cx="1234440" cy="1234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82512" y="3575304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F9417"/>
                </a:solidFill>
                <a:latin typeface="Aptos"/>
              </a:rPr>
              <a:t>HORIZON RELAY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31920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6F7FB"/>
                </a:solidFill>
                <a:latin typeface="Aptos"/>
              </a:rPr>
              <a:t>Executa.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425696"/>
            <a:ext cx="215798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A6ACBA"/>
                </a:solidFill>
                <a:latin typeface="Aptos"/>
              </a:rPr>
              <a:t>Conecta a plataforma a robôs e sistemas externos por uma fila gerenciada.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9992" y="2057400"/>
            <a:ext cx="2670048" cy="347472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horizon-intelligence-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2258568"/>
            <a:ext cx="1234440" cy="12344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81160" y="3575304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9B6CFF"/>
                </a:solidFill>
                <a:latin typeface="Aptos"/>
              </a:rPr>
              <a:t>HORIZON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3931920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6F7FB"/>
                </a:solidFill>
                <a:latin typeface="Aptos"/>
              </a:rPr>
              <a:t>Entende.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4425696"/>
            <a:ext cx="2157984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dirty="0" err="1">
                <a:solidFill>
                  <a:srgbClr val="A6ACBA"/>
                </a:solidFill>
                <a:latin typeface="Aptos"/>
              </a:rPr>
              <a:t>Adiciona</a:t>
            </a:r>
            <a:r>
              <a:rPr sz="950" b="0" dirty="0">
                <a:solidFill>
                  <a:srgbClr val="A6ACBA"/>
                </a:solidFill>
                <a:latin typeface="Aptos"/>
              </a:rPr>
              <a:t> OCR, Smart Response</a:t>
            </a:r>
            <a:r>
              <a:rPr lang="en-US" sz="950" b="0" dirty="0">
                <a:solidFill>
                  <a:srgbClr val="A6ACBA"/>
                </a:solidFill>
                <a:latin typeface="Aptos"/>
              </a:rPr>
              <a:t>, </a:t>
            </a:r>
            <a:r>
              <a:rPr lang="en-US" sz="950" b="0" dirty="0" err="1">
                <a:solidFill>
                  <a:srgbClr val="A6ACBA"/>
                </a:solidFill>
                <a:latin typeface="Aptos"/>
              </a:rPr>
              <a:t>Traduções</a:t>
            </a:r>
            <a:r>
              <a:rPr sz="950" b="0" dirty="0">
                <a:solidFill>
                  <a:srgbClr val="A6ACBA"/>
                </a:solidFill>
                <a:latin typeface="Aptos"/>
              </a:rPr>
              <a:t> e </a:t>
            </a:r>
            <a:r>
              <a:rPr sz="950" b="0" dirty="0" err="1">
                <a:solidFill>
                  <a:srgbClr val="A6ACBA"/>
                </a:solidFill>
                <a:latin typeface="Aptos"/>
              </a:rPr>
              <a:t>geração</a:t>
            </a:r>
            <a:r>
              <a:rPr sz="950" b="0" dirty="0">
                <a:solidFill>
                  <a:srgbClr val="A6ACBA"/>
                </a:solidFill>
                <a:latin typeface="Aptos"/>
              </a:rPr>
              <a:t> de </a:t>
            </a:r>
            <a:r>
              <a:rPr sz="950" b="0" dirty="0" err="1">
                <a:solidFill>
                  <a:srgbClr val="A6ACBA"/>
                </a:solidFill>
                <a:latin typeface="Aptos"/>
              </a:rPr>
              <a:t>conhecimento</a:t>
            </a:r>
            <a:r>
              <a:rPr sz="950" b="0" dirty="0">
                <a:solidFill>
                  <a:srgbClr val="A6ACBA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A6ACBA"/>
                </a:solidFill>
                <a:latin typeface="Aptos"/>
              </a:rPr>
              <a:t>aos</a:t>
            </a:r>
            <a:r>
              <a:rPr sz="950" b="0" dirty="0">
                <a:solidFill>
                  <a:srgbClr val="A6ACBA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A6ACBA"/>
                </a:solidFill>
                <a:latin typeface="Aptos"/>
              </a:rPr>
              <a:t>fluxos</a:t>
            </a:r>
            <a:r>
              <a:rPr sz="950" b="0" dirty="0">
                <a:solidFill>
                  <a:srgbClr val="A6ACB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417"/>
                </a:solidFill>
                <a:latin typeface="Aptos"/>
              </a:rPr>
              <a:t>INTEGRATED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132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6F7FB"/>
                </a:solidFill>
                <a:latin typeface="Aptos"/>
              </a:rPr>
              <a:t>Uma jornada automatizada de ponta a ponta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48840"/>
            <a:ext cx="2441448" cy="246888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35915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9B6C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9864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6F7FB"/>
                </a:solidFill>
                <a:latin typeface="Aptos"/>
              </a:rPr>
              <a:t>ENTENDER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43814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Intelligence interpreta documentos e 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127248"/>
            <a:ext cx="3383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9B6C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2148840"/>
            <a:ext cx="2441448" cy="246888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235915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B4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89864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6F7FB"/>
                </a:solidFill>
                <a:latin typeface="Aptos"/>
              </a:rPr>
              <a:t>ORQUESTRAR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43814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Flow aplica regras e conduz o processo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3127248"/>
            <a:ext cx="3383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16B4F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2148840"/>
            <a:ext cx="2441448" cy="246888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235915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9417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89864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6F7FB"/>
                </a:solidFill>
                <a:latin typeface="Aptos"/>
              </a:rPr>
              <a:t>EXECUTAR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43814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Relay aciona RPA e recebe o resultado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3376" y="3127248"/>
            <a:ext cx="3383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9417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3416" y="2148840"/>
            <a:ext cx="2441448" cy="246888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584" y="235915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78FEE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289864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6F7FB"/>
                </a:solidFill>
                <a:latin typeface="Aptos"/>
              </a:rPr>
              <a:t>REGISTRAR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43814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ServiceNow mantém evidências e métricas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010912"/>
            <a:ext cx="9921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6F7FB"/>
                </a:solidFill>
                <a:latin typeface="Aptos"/>
              </a:rPr>
              <a:t>Horizon Bridge acelera a transição e modernização de catálogos, Flows e Workflows no novo ambiente.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Horizon Slide 7 Vector Layout">
            <a:extLst>
              <a:ext uri="{FF2B5EF4-FFF2-40B4-BE49-F238E27FC236}">
                <a16:creationId xmlns:a16="http://schemas.microsoft.com/office/drawing/2014/main" id="{C33B7989-1A2D-D5C0-219A-CE09BC964BE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417"/>
                </a:solidFill>
                <a:latin typeface="Aptos"/>
              </a:rPr>
              <a:t>OPERATING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132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6F7FB"/>
                </a:solidFill>
                <a:latin typeface="Aptos"/>
              </a:rPr>
              <a:t>Capacity adicional no time Horizon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426464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6ACBA"/>
                </a:solidFill>
                <a:latin typeface="Aptos"/>
              </a:rPr>
              <a:t>O cenário proposto amplia a estrutura existente para executar a migração sob a gestão do Horizon Core, mantendo People como owner da arquitetura.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20240"/>
            <a:ext cx="3410712" cy="1298448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121408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9417"/>
                </a:solidFill>
                <a:latin typeface="Aptos"/>
              </a:rPr>
              <a:t>1×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093976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6F7FB"/>
                </a:solidFill>
                <a:latin typeface="Aptos"/>
              </a:rPr>
              <a:t>Automation Lead / 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496312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ACBA"/>
                </a:solidFill>
                <a:latin typeface="Aptos"/>
              </a:rPr>
              <a:t>Estratégia, intake, priorização e stakeholders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920240"/>
            <a:ext cx="3410712" cy="1298448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2121408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9417"/>
                </a:solidFill>
                <a:latin typeface="Aptos"/>
              </a:rPr>
              <a:t>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093976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6F7FB"/>
                </a:solidFill>
                <a:latin typeface="Aptos"/>
              </a:rPr>
              <a:t>ServiceNow Tech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496312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ACBA"/>
                </a:solidFill>
                <a:latin typeface="Aptos"/>
              </a:rPr>
              <a:t>Arquitetura, padrões e qualidade técnica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1920240"/>
            <a:ext cx="3410712" cy="1298448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2" y="2121408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9417"/>
                </a:solidFill>
                <a:latin typeface="Aptos"/>
              </a:rPr>
              <a:t>2×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2093976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6F7FB"/>
                </a:solidFill>
                <a:latin typeface="Aptos"/>
              </a:rPr>
              <a:t>ServiceNow Developers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2496312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ACBA"/>
                </a:solidFill>
                <a:latin typeface="Aptos"/>
              </a:rPr>
              <a:t>Flow, integrações e evolução da plataforma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529584"/>
            <a:ext cx="3410712" cy="1298448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" y="3730752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9417"/>
                </a:solidFill>
                <a:latin typeface="Aptos"/>
              </a:rPr>
              <a:t>1×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370332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6F7FB"/>
                </a:solidFill>
                <a:latin typeface="Aptos"/>
              </a:rPr>
              <a:t>RPA Developer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105656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ACBA"/>
                </a:solidFill>
                <a:latin typeface="Aptos"/>
              </a:rPr>
              <a:t>Relay, robôs e integrações externas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3529584"/>
            <a:ext cx="3410712" cy="1298448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30752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9417"/>
                </a:solidFill>
                <a:latin typeface="Aptos"/>
              </a:rPr>
              <a:t>1×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70332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6F7FB"/>
                </a:solidFill>
                <a:latin typeface="Aptos"/>
              </a:rPr>
              <a:t>AI / Integration Engineer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105656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ACBA"/>
                </a:solidFill>
                <a:latin typeface="Aptos"/>
              </a:rPr>
              <a:t>LLM, OCR, APIs e governança de 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55864" y="3529584"/>
            <a:ext cx="3410712" cy="1298448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2" y="3730752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9417"/>
                </a:solidFill>
                <a:latin typeface="Aptos"/>
              </a:rPr>
              <a:t>1×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5672" y="370332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6F7FB"/>
                </a:solidFill>
                <a:latin typeface="Aptos"/>
              </a:rPr>
              <a:t>Process Automation Analyst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4105656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ACBA"/>
                </a:solidFill>
                <a:latin typeface="Aptos"/>
              </a:rPr>
              <a:t>Discovery, business case e benefícios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30952"/>
            <a:ext cx="107167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A6ACBA"/>
                </a:solidFill>
                <a:latin typeface="Aptos"/>
              </a:rPr>
              <a:t>Estrutura de referência do cenário 2: perfis incorporados ao Horizon Core e dimensionados conforme backlog, prazo e ondas de migração validados.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417"/>
                </a:solidFill>
                <a:latin typeface="Aptos"/>
              </a:rPr>
              <a:t>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132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6F7FB"/>
                </a:solidFill>
                <a:latin typeface="Aptos"/>
              </a:rPr>
              <a:t>Uma fábrica orientada por valor — não por volume de pedidos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029968"/>
            <a:ext cx="1371600" cy="658368"/>
          </a:xfrm>
          <a:prstGeom prst="round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3" y="224028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F6F7FB"/>
                </a:solidFill>
                <a:latin typeface="Aptos"/>
              </a:rPr>
              <a:t>IDEIA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2219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941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2029968"/>
            <a:ext cx="1371600" cy="658368"/>
          </a:xfrm>
          <a:prstGeom prst="round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6272" y="224028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F6F7FB"/>
                </a:solidFill>
                <a:latin typeface="Aptos"/>
              </a:rPr>
              <a:t>QUALIFICAÇÃO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219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9417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67328" y="2029968"/>
            <a:ext cx="1371600" cy="658368"/>
          </a:xfrm>
          <a:prstGeom prst="round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224028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F6F7FB"/>
                </a:solidFill>
                <a:latin typeface="Aptos"/>
              </a:rPr>
              <a:t>BUSINESS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2219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9417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31536" y="2029968"/>
            <a:ext cx="1371600" cy="658368"/>
          </a:xfrm>
          <a:prstGeom prst="round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04688" y="224028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F6F7FB"/>
                </a:solidFill>
                <a:latin typeface="Aptos"/>
              </a:rPr>
              <a:t>PRIORIZAÇÃO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22219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9417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95744" y="2029968"/>
            <a:ext cx="1371600" cy="658368"/>
          </a:xfrm>
          <a:prstGeom prst="round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68896" y="224028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F6F7FB"/>
                </a:solidFill>
                <a:latin typeface="Aptos"/>
              </a:rP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22219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9417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59952" y="2029968"/>
            <a:ext cx="1371600" cy="658368"/>
          </a:xfrm>
          <a:prstGeom prst="round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33104" y="224028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F6F7FB"/>
                </a:solidFill>
                <a:latin typeface="Aptos"/>
              </a:rPr>
              <a:t>GO-LIVE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2" y="22219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9417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24160" y="2029968"/>
            <a:ext cx="1371600" cy="658368"/>
          </a:xfrm>
          <a:prstGeom prst="round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97312" y="224028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F6F7FB"/>
                </a:solidFill>
                <a:latin typeface="Aptos"/>
              </a:rPr>
              <a:t>BENEFÍCIOS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182112"/>
            <a:ext cx="3429000" cy="196596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" y="3182112"/>
            <a:ext cx="54864" cy="1965960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3383280"/>
            <a:ext cx="30175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FF9417"/>
                </a:solidFill>
                <a:latin typeface="Aptos"/>
              </a:rPr>
              <a:t>PRIORIZAÇÃO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694176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Valor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297180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Horas devolvidas
Custos evitados
Experiência e lead 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70832" y="3182112"/>
            <a:ext cx="3429000" cy="196596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70832" y="3182112"/>
            <a:ext cx="54864" cy="1965960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99432" y="3383280"/>
            <a:ext cx="30175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9B6CFF"/>
                </a:solidFill>
                <a:latin typeface="Aptos"/>
              </a:rPr>
              <a:t>PRIORIZAÇÃO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3694176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Viabilidade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4197096"/>
            <a:ext cx="297180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Complexidade técnica
Dados e integrações
Segurança e compliance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3182112"/>
            <a:ext cx="3429000" cy="196596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60" y="3182112"/>
            <a:ext cx="54864" cy="1965960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66760" y="3383280"/>
            <a:ext cx="30175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78FEE"/>
                </a:solidFill>
                <a:latin typeface="Aptos"/>
              </a:rPr>
              <a:t>PRIORIZAÇÃO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3694176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Escala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197096"/>
            <a:ext cx="297180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6ACBA"/>
                </a:solidFill>
                <a:latin typeface="Aptos"/>
              </a:rPr>
              <a:t>Volume e frequência
Reutilização
Aderência ao Horizon 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Horizon Slide 10 Vector Layout">
            <a:extLst>
              <a:ext uri="{FF2B5EF4-FFF2-40B4-BE49-F238E27FC236}">
                <a16:creationId xmlns:a16="http://schemas.microsoft.com/office/drawing/2014/main" id="{9BB32DC1-6A66-26DB-0E17-A33C8F1EB46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417"/>
                </a:solidFill>
                <a:latin typeface="Aptos"/>
              </a:rPr>
              <a:t>SCENARIO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132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6F7FB"/>
                </a:solidFill>
                <a:latin typeface="Aptos"/>
              </a:rPr>
              <a:t>Dois cenários avaliados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426464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6ACBA"/>
                </a:solidFill>
                <a:latin typeface="Aptos"/>
              </a:rPr>
              <a:t>As duas alternativas viabilizam a migração; o cenário 2 é o proposto por aproveitar a governança, o contexto e a estrutura já mobilizada no Horizon 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65960"/>
            <a:ext cx="1463040" cy="502920"/>
          </a:xfrm>
          <a:prstGeom prst="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139696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A6ACBA"/>
                </a:solidFill>
                <a:latin typeface="Aptos"/>
              </a:rPr>
              <a:t>CENÁRIO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965960"/>
            <a:ext cx="2468880" cy="502920"/>
          </a:xfrm>
          <a:prstGeom prst="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21992" y="2139696"/>
            <a:ext cx="23225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A6ACBA"/>
                </a:solidFill>
                <a:latin typeface="Aptos"/>
              </a:rPr>
              <a:t>MODELO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965960"/>
            <a:ext cx="1965960" cy="502920"/>
          </a:xfrm>
          <a:prstGeom prst="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90872" y="2139696"/>
            <a:ext cx="1819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A6ACBA"/>
                </a:solidFill>
                <a:latin typeface="Aptos"/>
              </a:rPr>
              <a:t>GESTÃO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965960"/>
            <a:ext cx="3108960" cy="502920"/>
          </a:xfrm>
          <a:prstGeom prst="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2" y="2139696"/>
            <a:ext cx="2962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A6ACBA"/>
                </a:solidFill>
                <a:latin typeface="Aptos"/>
              </a:rPr>
              <a:t>PRINCIPAL IMPACTO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965960"/>
            <a:ext cx="1691640" cy="502920"/>
          </a:xfrm>
          <a:prstGeom prst="rect">
            <a:avLst/>
          </a:prstGeom>
          <a:solidFill>
            <a:srgbClr val="181922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65792" y="2139696"/>
            <a:ext cx="154533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A6ACBA"/>
                </a:solidFill>
                <a:latin typeface="Aptos"/>
              </a:rPr>
              <a:t>DECISÃO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468880"/>
            <a:ext cx="1463040" cy="658368"/>
          </a:xfrm>
          <a:prstGeom prst="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2624328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6F7FB"/>
                </a:solidFill>
                <a:latin typeface="Aptos"/>
              </a:rPr>
              <a:t>CENÁRIO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2468880"/>
            <a:ext cx="2468880" cy="658368"/>
          </a:xfrm>
          <a:prstGeom prst="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21992" y="2624328"/>
            <a:ext cx="23225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6F7FB"/>
                </a:solidFill>
                <a:latin typeface="Aptos"/>
              </a:rPr>
              <a:t>Time dedicado à migração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468880"/>
            <a:ext cx="1965960" cy="658368"/>
          </a:xfrm>
          <a:prstGeom prst="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90872" y="2624328"/>
            <a:ext cx="18196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6F7FB"/>
                </a:solidFill>
                <a:latin typeface="Aptos"/>
              </a:rPr>
              <a:t>Estrutura própria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468880"/>
            <a:ext cx="3108960" cy="658368"/>
          </a:xfrm>
          <a:prstGeom prst="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2" y="2624328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6F7FB"/>
                </a:solidFill>
                <a:latin typeface="Aptos"/>
              </a:rPr>
              <a:t>Maior mobilização e nova camada de governança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2468880"/>
            <a:ext cx="1691640" cy="658368"/>
          </a:xfrm>
          <a:prstGeom prst="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65792" y="2624328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6F7FB"/>
                </a:solidFill>
                <a:latin typeface="Aptos"/>
              </a:rPr>
              <a:t>AVALIADO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127248"/>
            <a:ext cx="1463040" cy="658368"/>
          </a:xfrm>
          <a:prstGeom prst="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3282696"/>
            <a:ext cx="1316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9417"/>
                </a:solidFill>
                <a:latin typeface="Aptos"/>
              </a:rPr>
              <a:t>CENÁRIO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48840" y="3127248"/>
            <a:ext cx="2468880" cy="658368"/>
          </a:xfrm>
          <a:prstGeom prst="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21992" y="3282696"/>
            <a:ext cx="23225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6F7FB"/>
                </a:solidFill>
                <a:latin typeface="Aptos"/>
              </a:rPr>
              <a:t>Capacity adicional no Horizon Core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3127248"/>
            <a:ext cx="1965960" cy="658368"/>
          </a:xfrm>
          <a:prstGeom prst="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90872" y="3282696"/>
            <a:ext cx="18196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6F7FB"/>
                </a:solidFill>
                <a:latin typeface="Aptos"/>
              </a:rPr>
              <a:t>Horizon 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127248"/>
            <a:ext cx="3108960" cy="658368"/>
          </a:xfrm>
          <a:prstGeom prst="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56832" y="3282696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>
                <a:solidFill>
                  <a:srgbClr val="F6F7FB"/>
                </a:solidFill>
                <a:latin typeface="Aptos"/>
              </a:rPr>
              <a:t>Integração ao plano, ritos e dependências existentes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3127248"/>
            <a:ext cx="1691640" cy="658368"/>
          </a:xfrm>
          <a:prstGeom prst="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65792" y="3282696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9417"/>
                </a:solidFill>
                <a:latin typeface="Aptos"/>
              </a:rPr>
              <a:t>PROPOSTO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16052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9417"/>
                </a:solidFill>
                <a:latin typeface="Aptos"/>
              </a:rPr>
              <a:t>Recomendação:  </a:t>
            </a:r>
            <a:r>
              <a:rPr sz="1300" b="1">
                <a:solidFill>
                  <a:srgbClr val="F6F7FB"/>
                </a:solidFill>
                <a:latin typeface="Aptos"/>
              </a:rPr>
              <a:t>incrementar a capacity do Horizon Core para executar a migração da arquitetura proposta por People.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892040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A6ACBA"/>
                </a:solidFill>
                <a:latin typeface="Aptos"/>
              </a:rPr>
              <a:t>Dimensionamento e investimento devem ser validados a partir do backlog, cronograma e perfis necessários para as ondas de migração.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417"/>
                </a:solidFill>
                <a:latin typeface="Aptos"/>
              </a:rPr>
              <a:t>SUCCESS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132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6F7FB"/>
                </a:solidFill>
                <a:latin typeface="Aptos"/>
              </a:rPr>
              <a:t>Como o investimento será medido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11680"/>
            <a:ext cx="2450592" cy="214884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9417"/>
                </a:solidFill>
                <a:latin typeface="Aptos"/>
              </a:rP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9504"/>
            <a:ext cx="208483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6F7FB"/>
                </a:solidFill>
                <a:latin typeface="Aptos"/>
              </a:rPr>
              <a:t>Horas devolvidas
Benefício realizado
Custos evitados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2011680"/>
            <a:ext cx="2450592" cy="214884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2331720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6B4FF"/>
                </a:solidFill>
                <a:latin typeface="Aptos"/>
              </a:rP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889504"/>
            <a:ext cx="208483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6F7FB"/>
                </a:solidFill>
                <a:latin typeface="Aptos"/>
              </a:rPr>
              <a:t>Lead time
Automações entregues
Reutilização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011680"/>
            <a:ext cx="2450592" cy="214884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2331720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8FEE"/>
                </a:solidFill>
                <a:latin typeface="Aptos"/>
              </a:rP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889504"/>
            <a:ext cx="208483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6F7FB"/>
                </a:solidFill>
                <a:latin typeface="Aptos"/>
              </a:rPr>
              <a:t>Taxa de sucesso
Incidentes
Retrabalho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2011680"/>
            <a:ext cx="2450592" cy="214884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26296" y="2331720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9B6CFF"/>
                </a:solidFill>
                <a:latin typeface="Aptos"/>
              </a:rPr>
              <a:t>ADOPTION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2889504"/>
            <a:ext cx="208483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6F7FB"/>
                </a:solidFill>
                <a:latin typeface="Aptos"/>
              </a:rPr>
              <a:t>Áreas atendidas
Usuários impactados
Satisfação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681728"/>
            <a:ext cx="10259568" cy="804672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4712" y="4818888"/>
            <a:ext cx="9930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5074920"/>
            <a:ext cx="993038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Definir baseline 2026 e metas 2027 para cada KPI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658368"/>
            <a:ext cx="1764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9417"/>
                </a:solidFill>
                <a:latin typeface="Aptos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298448"/>
            <a:ext cx="972007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>
                <a:solidFill>
                  <a:srgbClr val="F6F7FB"/>
                </a:solidFill>
                <a:latin typeface="Aptos"/>
              </a:rPr>
              <a:t>Aprovar o cenário 2 e mobilizar a execução.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743200"/>
            <a:ext cx="8439912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A6ACBA"/>
                </a:solidFill>
                <a:latin typeface="Aptos"/>
              </a:rPr>
              <a:t>People mantém o ownership da arquitetura; o Horizon Core recebe capacity adicional para executar e gerir a migração, dentro de sua governança de projeto.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4005072"/>
            <a:ext cx="2542032" cy="1051560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39112" y="4142232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4398264"/>
            <a:ext cx="22128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Sponsor executivo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4709159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Inserir nome / posição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8032" y="4005072"/>
            <a:ext cx="2542032" cy="1051560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92624" y="4142232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4398264"/>
            <a:ext cx="22128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Budget aprovado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4709159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Inserir valor / centro de custo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1544" y="4005072"/>
            <a:ext cx="2542032" cy="1051560"/>
          </a:xfrm>
          <a:prstGeom prst="roundRect">
            <a:avLst/>
          </a:prstGeom>
          <a:solidFill>
            <a:srgbClr val="1F1911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46136" y="4142232"/>
            <a:ext cx="22128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FF9417"/>
                </a:solidFill>
                <a:latin typeface="Aptos"/>
              </a:rPr>
              <a:t>DADO A COMPLETAR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6136" y="4398264"/>
            <a:ext cx="22128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Kick-off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6136" y="4709159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A6ACBA"/>
                </a:solidFill>
                <a:latin typeface="Aptos"/>
              </a:rPr>
              <a:t>Inserir data-alvo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925312"/>
            <a:ext cx="9994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6F7FB"/>
                </a:solidFill>
                <a:latin typeface="Aptos"/>
              </a:rPr>
              <a:t>BRIDGE CONNECTS  ·  FLOW AUTOMATES  ·  RELAY EXECUTES  ·  INTELLIGENCE UNDERSTANDS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0"/>
            <a:ext cx="1828800" cy="50292"/>
          </a:xfrm>
          <a:prstGeom prst="rect">
            <a:avLst/>
          </a:prstGeom>
          <a:solidFill>
            <a:srgbClr val="FFD400"/>
          </a:solidFill>
          <a:ln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2286000" cy="50292"/>
          </a:xfrm>
          <a:prstGeom prst="rect">
            <a:avLst/>
          </a:prstGeom>
          <a:solidFill>
            <a:srgbClr val="BC2945"/>
          </a:solidFill>
          <a:ln>
            <a:solidFill>
              <a:srgbClr val="BC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2080" y="0"/>
            <a:ext cx="2743200" cy="50292"/>
          </a:xfrm>
          <a:prstGeom prst="rect">
            <a:avLst/>
          </a:prstGeom>
          <a:solidFill>
            <a:srgbClr val="9B6CFF"/>
          </a:solidFill>
          <a:ln>
            <a:solidFill>
              <a:srgbClr val="9B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3136392" cy="50292"/>
          </a:xfrm>
          <a:prstGeom prst="rect">
            <a:avLst/>
          </a:prstGeom>
          <a:solidFill>
            <a:srgbClr val="078FEE"/>
          </a:solidFill>
          <a:ln>
            <a:solidFill>
              <a:srgbClr val="078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ACBA"/>
                </a:solidFill>
                <a:latin typeface="Aptos"/>
              </a:rPr>
              <a:t>HORIZON AUTOMATION SUITE  ·  INVESTMENT CASE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A6ACBA"/>
                </a:solidFill>
                <a:latin typeface="Apto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9417"/>
                </a:solidFill>
                <a:latin typeface="Aptos"/>
              </a:rPr>
              <a:t>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71323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6F7FB"/>
                </a:solidFill>
                <a:latin typeface="Aptos"/>
              </a:rPr>
              <a:t>Checklist de dados para completar o business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426464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A6ACBA"/>
                </a:solidFill>
                <a:latin typeface="Aptos"/>
              </a:rPr>
              <a:t>Use este slide como roteiro de coleta antes da reunião com a diretoria.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20240"/>
            <a:ext cx="5349240" cy="361188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20240"/>
            <a:ext cx="54864" cy="3611880"/>
          </a:xfrm>
          <a:prstGeom prst="rect">
            <a:avLst/>
          </a:prstGeom>
          <a:solidFill>
            <a:srgbClr val="16B4FF"/>
          </a:solidFill>
          <a:ln>
            <a:solidFill>
              <a:srgbClr val="16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176272"/>
            <a:ext cx="48920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Dados operacionais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1"/>
            <a:ext cx="4892040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679192"/>
            <a:ext cx="46177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A6ACBA"/>
                </a:solidFill>
                <a:latin typeface="Aptos"/>
              </a:defRPr>
            </a:pPr>
            <a:r>
              <a:t>•  Backlog: quantidade, área, prioridade e esforço</a:t>
            </a:r>
          </a:p>
          <a:p>
            <a:pPr>
              <a:spcAft>
                <a:spcPts val="800"/>
              </a:spcAft>
              <a:defRPr sz="1100">
                <a:solidFill>
                  <a:srgbClr val="A6ACBA"/>
                </a:solidFill>
                <a:latin typeface="Aptos"/>
              </a:defRPr>
            </a:pPr>
            <a:r>
              <a:t>•  Volumes: transações mensais por processo</a:t>
            </a:r>
          </a:p>
          <a:p>
            <a:pPr>
              <a:spcAft>
                <a:spcPts val="800"/>
              </a:spcAft>
              <a:defRPr sz="1100">
                <a:solidFill>
                  <a:srgbClr val="A6ACBA"/>
                </a:solidFill>
                <a:latin typeface="Aptos"/>
              </a:defRPr>
            </a:pPr>
            <a:r>
              <a:t>•  Esforço atual: minutos por transação</a:t>
            </a:r>
          </a:p>
          <a:p>
            <a:pPr>
              <a:spcAft>
                <a:spcPts val="800"/>
              </a:spcAft>
              <a:defRPr sz="1100">
                <a:solidFill>
                  <a:srgbClr val="A6ACBA"/>
                </a:solidFill>
                <a:latin typeface="Aptos"/>
              </a:defRPr>
            </a:pPr>
            <a:r>
              <a:t>•  Tração: automações e ativos migrados</a:t>
            </a:r>
          </a:p>
          <a:p>
            <a:pPr>
              <a:spcAft>
                <a:spcPts val="800"/>
              </a:spcAft>
              <a:defRPr sz="1100">
                <a:solidFill>
                  <a:srgbClr val="A6ACBA"/>
                </a:solidFill>
                <a:latin typeface="Aptos"/>
              </a:defRPr>
            </a:pPr>
            <a:r>
              <a:t>•  Qualidade: sucesso, erros e retrabalho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20240"/>
            <a:ext cx="5349240" cy="3611880"/>
          </a:xfrm>
          <a:prstGeom prst="roundRect">
            <a:avLst/>
          </a:prstGeom>
          <a:solidFill>
            <a:srgbClr val="101118"/>
          </a:solidFill>
          <a:ln>
            <a:solidFill>
              <a:srgbClr val="313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5352" y="1920240"/>
            <a:ext cx="54864" cy="3611880"/>
          </a:xfrm>
          <a:prstGeom prst="rect">
            <a:avLst/>
          </a:prstGeom>
          <a:solidFill>
            <a:srgbClr val="FF9417"/>
          </a:solidFill>
          <a:ln>
            <a:solidFill>
              <a:srgbClr val="FF94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176272"/>
            <a:ext cx="48920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6F7FB"/>
                </a:solidFill>
                <a:latin typeface="Aptos"/>
              </a:rPr>
              <a:t>Dados financeiros e organizacionais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679191"/>
            <a:ext cx="4892040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2679192"/>
            <a:ext cx="46177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A6ACBA"/>
                </a:solidFill>
                <a:latin typeface="Aptos"/>
              </a:defRPr>
            </a:pPr>
            <a:r>
              <a:t>•  Custos: salários carregados e fornecedores</a:t>
            </a:r>
          </a:p>
          <a:p>
            <a:pPr>
              <a:spcAft>
                <a:spcPts val="800"/>
              </a:spcAft>
              <a:defRPr sz="1100">
                <a:solidFill>
                  <a:srgbClr val="A6ACBA"/>
                </a:solidFill>
                <a:latin typeface="Aptos"/>
              </a:defRPr>
            </a:pPr>
            <a:r>
              <a:t>•  Benefícios: horas, custos evitados e riscos</a:t>
            </a:r>
          </a:p>
          <a:p>
            <a:pPr>
              <a:spcAft>
                <a:spcPts val="800"/>
              </a:spcAft>
              <a:defRPr sz="1100">
                <a:solidFill>
                  <a:srgbClr val="A6ACBA"/>
                </a:solidFill>
                <a:latin typeface="Aptos"/>
              </a:defRPr>
            </a:pPr>
            <a:r>
              <a:t>•  Equipe: perfis, senioridade e localização</a:t>
            </a:r>
          </a:p>
          <a:p>
            <a:pPr>
              <a:spcAft>
                <a:spcPts val="800"/>
              </a:spcAft>
              <a:defRPr sz="1100">
                <a:solidFill>
                  <a:srgbClr val="A6ACBA"/>
                </a:solidFill>
                <a:latin typeface="Aptos"/>
              </a:defRPr>
            </a:pPr>
            <a:r>
              <a:t>•  Metas: entregas e benefícios por trimestre</a:t>
            </a:r>
          </a:p>
          <a:p>
            <a:pPr>
              <a:spcAft>
                <a:spcPts val="800"/>
              </a:spcAft>
              <a:defRPr sz="1100">
                <a:solidFill>
                  <a:srgbClr val="A6ACBA"/>
                </a:solidFill>
                <a:latin typeface="Aptos"/>
              </a:defRPr>
            </a:pPr>
            <a:r>
              <a:t>•  Sponsors: áreas beneficiadas e compromissos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581de8c-e4a1-4366-a54e-e8ff27d3a1fa" xsi:nil="true"/>
    <lcf76f155ced4ddcb4097134ff3c332f xmlns="d1aaf6f4-19f3-43e7-adad-c7509121c59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0CC443F52E124487A4824DA14DC852" ma:contentTypeVersion="11" ma:contentTypeDescription="Create a new document." ma:contentTypeScope="" ma:versionID="9e23b7e3c8e7c5198d4b574dffdbeffc">
  <xsd:schema xmlns:xsd="http://www.w3.org/2001/XMLSchema" xmlns:xs="http://www.w3.org/2001/XMLSchema" xmlns:p="http://schemas.microsoft.com/office/2006/metadata/properties" xmlns:ns2="d1aaf6f4-19f3-43e7-adad-c7509121c592" xmlns:ns3="1581de8c-e4a1-4366-a54e-e8ff27d3a1fa" targetNamespace="http://schemas.microsoft.com/office/2006/metadata/properties" ma:root="true" ma:fieldsID="9788fb4f36dd0d8ee138bead8e65d580" ns2:_="" ns3:_="">
    <xsd:import namespace="d1aaf6f4-19f3-43e7-adad-c7509121c592"/>
    <xsd:import namespace="1581de8c-e4a1-4366-a54e-e8ff27d3a1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aaf6f4-19f3-43e7-adad-c7509121c5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e2deea9-f698-482e-8f77-105b59b605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81de8c-e4a1-4366-a54e-e8ff27d3a1f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ed67f0c-d69a-490b-b34b-e7a3d3c7da60}" ma:internalName="TaxCatchAll" ma:showField="CatchAllData" ma:web="1581de8c-e4a1-4366-a54e-e8ff27d3a1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C9113C-D8E9-4F22-BFD7-CC52FE828253}">
  <ds:schemaRefs>
    <ds:schemaRef ds:uri="http://schemas.microsoft.com/office/2006/metadata/properties"/>
    <ds:schemaRef ds:uri="http://schemas.microsoft.com/office/infopath/2007/PartnerControls"/>
    <ds:schemaRef ds:uri="1581de8c-e4a1-4366-a54e-e8ff27d3a1fa"/>
    <ds:schemaRef ds:uri="d1aaf6f4-19f3-43e7-adad-c7509121c592"/>
  </ds:schemaRefs>
</ds:datastoreItem>
</file>

<file path=customXml/itemProps2.xml><?xml version="1.0" encoding="utf-8"?>
<ds:datastoreItem xmlns:ds="http://schemas.openxmlformats.org/officeDocument/2006/customXml" ds:itemID="{7DD1B910-2436-4DD9-A327-BF751FB1D7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23FA57-ED1F-4A3C-A09F-576ACC6D9B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aaf6f4-19f3-43e7-adad-c7509121c592"/>
    <ds:schemaRef ds:uri="1581de8c-e4a1-4366-a54e-e8ff27d3a1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1148</Words>
  <Application>Microsoft Office PowerPoint</Application>
  <PresentationFormat>Widescreen</PresentationFormat>
  <Paragraphs>212</Paragraphs>
  <Slides>14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 Automation Suite — Investment Case 2027</dc:title>
  <dc:subject>Proposta de migração da arquitetura de People com execução e gestão Horizon Core</dc:subject>
  <dc:creator>People / Horizon Core</dc:creator>
  <cp:keywords>Horizon, Automation, ServiceNow, RPA, AI, Investment, 2027</cp:keywords>
  <dc:description>generated using python-pptx</dc:description>
  <cp:lastModifiedBy>Bruno Pallota (AOOP CLOUD)</cp:lastModifiedBy>
  <cp:revision>3</cp:revision>
  <dcterms:created xsi:type="dcterms:W3CDTF">2013-01-27T09:14:16Z</dcterms:created>
  <dcterms:modified xsi:type="dcterms:W3CDTF">2026-09-04T16:40:19Z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0x010100D40CC443F52E124487A4824DA14DC852</vt:lpwstr>
  </property>
  <property fmtid="{D5CDD505-2E9C-101B-9397-08002B2CF9AE}" pid="3" name="MediaServiceImageTags">
    <vt:lpwstr/>
  </property>
</Properties>
</file>